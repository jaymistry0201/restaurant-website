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7" r:id="rId1"/>
  </p:sldMasterIdLst>
  <p:sldIdLst>
    <p:sldId id="256" r:id="rId2"/>
    <p:sldId id="261" r:id="rId3"/>
    <p:sldId id="277" r:id="rId4"/>
    <p:sldId id="280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2" autoAdjust="0"/>
    <p:restoredTop sz="94660"/>
  </p:normalViewPr>
  <p:slideViewPr>
    <p:cSldViewPr snapToGrid="0">
      <p:cViewPr>
        <p:scale>
          <a:sx n="68" d="100"/>
          <a:sy n="68" d="100"/>
        </p:scale>
        <p:origin x="1037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1EEE-DD7E-4E55-924B-1E05D3681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67119-9CE4-4683-9952-8DABDCB36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8820A-DCEF-4D42-A290-4CDD8FDB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6BE0-2C7A-4E6D-84EF-E24EAE31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9EFA5-1CFF-4C38-801E-90F91B38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2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32C4-B5E9-4CD9-9140-B638D874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6ED7-E235-4092-9619-95987AA37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0EF2C-F072-43B9-BA0F-0C995DC3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3E30-D59A-47E4-9C29-0611A28C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5C94A-144C-4E5E-B703-E2D81CEE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5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FC2B-375B-4661-90D0-0A8D4E73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6FCB3-AA58-46D8-93D9-17A686D0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140A9-046E-4420-8E30-683390D1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E4DE5-38AC-4031-A5E0-CF105EB6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1B25A-A604-46B8-A8BE-A7A21EB5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87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A613D-A954-43E4-8929-BDA2E7AC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29B61-CB46-453C-A67D-BEFE97598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C52FA-C8F3-475F-928F-630E2D74A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2B6A0-0260-411F-A13C-2C9664DD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8EE39-FB79-4FE0-B61A-D15E52B2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787D8-E437-4848-B484-1FDE1CDC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2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C243-90A1-4B12-9BEA-B04DF2F1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8F04A-3899-4CCC-A313-0BB18DA43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FED3E-2FB8-4024-B2DE-829495891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0C570-D0F9-4DEF-9F9E-BD1CC386D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19C20-A75F-438B-9AA9-273218931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EC3B6F-1D56-48C6-B0A7-5A993041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76A0EA-A48F-4BAC-B4A4-FBEB36E5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06554-1212-4BB6-BC4C-2B163BBC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ABC8-23C5-4F8F-906D-7372680C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34486-CC22-428E-8C0B-226EF16D5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3BA17-DA32-48B7-B042-DBA5F0EF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B9034-DF8B-4E14-A045-5744567A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44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E40A2-8E1A-4CBF-B11F-82D29FB0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120D1-613E-4329-B5B0-15B62C83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C104E-382B-493C-B951-A1224BD2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8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EBAE-9432-4499-866D-5858DC03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6FA9-0A4F-4B8C-8799-E8BE5F594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07786-49EE-4B55-9DE8-9F6BC87D7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DE7F4-46A0-45CD-A11B-0B0378A76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04B19-279B-44DD-B07B-16571202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C5762-4D09-4308-A488-DA880767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554A-9988-4187-8919-C0CD85396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78C02F-0A55-456D-8D3E-4C5F6100E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90582-406A-4DD8-8DDA-9A307C19B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CACF-0177-42CB-BA76-EB38BE62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B3BD7-9663-4943-9253-57EC298A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FAD40-145F-44F9-80B5-82D4E024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02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6804-728C-4985-B8E7-163B4EAD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402F6-A058-46E2-97D1-4A6C69026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A83BD-29D9-4641-8608-51752E31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40E6C-B39C-4AE4-A8B2-676B1349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1BA25-9B0D-48AF-9D7E-85C8D734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0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6D237-2E98-406F-BEA0-0E6D0E3A3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742F3-C2AF-4F69-9DF8-2C6A84424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0E78B-9235-4705-AFE7-019C0F35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5B0B4-E8CD-4063-9EF8-76A5711A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00D4-B38F-4EAD-8A83-3B97691B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1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57450-0E7D-4C94-8D8A-B17C0338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02D83-1606-4E73-9724-AF8F5B4C9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83A24-249E-4BAB-BFA4-D5CC5024F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78144-6FD4-461A-BEE3-AC1989F0538A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4B6B0-97DB-43EB-A67B-6AC2B0A1C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8E7C0-ED83-4284-9313-015DC6C47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3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DC19-8E5F-4EBE-976D-B016F37BF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981" y="870103"/>
            <a:ext cx="10955548" cy="699905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normAutofit/>
          </a:bodyPr>
          <a:lstStyle/>
          <a:p>
            <a:r>
              <a:rPr lang="en-US" sz="4000" b="1">
                <a:latin typeface="Bodoni MT" panose="02070603080606020203" pitchFamily="18" charset="0"/>
              </a:rPr>
              <a:t>Feastify Restaurant Website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2695AABC-5781-469E-A0AB-5ABC4A3A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981" y="1761737"/>
            <a:ext cx="1917940" cy="400619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lnSpcReduction="10000"/>
          </a:bodyPr>
          <a:lstStyle/>
          <a:p>
            <a:pPr algn="l"/>
            <a:r>
              <a:rPr lang="en-US" b="1"/>
              <a:t>Prepared By:-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388EC4-AE35-4404-ADE0-66BF5D57B3DB}"/>
              </a:ext>
            </a:extLst>
          </p:cNvPr>
          <p:cNvSpPr/>
          <p:nvPr/>
        </p:nvSpPr>
        <p:spPr>
          <a:xfrm>
            <a:off x="646978" y="2363725"/>
            <a:ext cx="6820619" cy="2684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</a:rPr>
              <a:t>Name: Mistry Jay Rameshbhai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</a:rPr>
              <a:t>Enrollment No: 23002170110092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</a:rPr>
              <a:t>Division: A4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</a:rPr>
              <a:t>Branch: CE </a:t>
            </a:r>
          </a:p>
        </p:txBody>
      </p:sp>
    </p:spTree>
    <p:extLst>
      <p:ext uri="{BB962C8B-B14F-4D97-AF65-F5344CB8AC3E}">
        <p14:creationId xmlns:p14="http://schemas.microsoft.com/office/powerpoint/2010/main" val="361097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06F7-ED6A-4550-B6AE-5AB4126B3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75" y="1825624"/>
            <a:ext cx="10990053" cy="4727575"/>
          </a:xfr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>
                <a:solidFill>
                  <a:schemeClr val="tx1"/>
                </a:solidFill>
              </a:rPr>
              <a:t>A web-based restaurant management system for customers to explore food, order online, and book tables. </a:t>
            </a:r>
          </a:p>
          <a:p>
            <a:pPr>
              <a:lnSpc>
                <a:spcPct val="150000"/>
              </a:lnSpc>
            </a:pPr>
            <a:r>
              <a:rPr lang="en-IN" sz="1800" b="1">
                <a:solidFill>
                  <a:schemeClr val="tx1"/>
                </a:solidFill>
              </a:rPr>
              <a:t>Technologies Used:</a:t>
            </a:r>
            <a:endParaRPr lang="en-IN" sz="18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1"/>
                </a:solidFill>
              </a:rPr>
              <a:t>Frontend:</a:t>
            </a:r>
            <a:r>
              <a:rPr lang="en-IN" sz="1800">
                <a:solidFill>
                  <a:schemeClr val="tx1"/>
                </a:solidFill>
              </a:rPr>
              <a:t> HTML, CSS, Bootstrap 5, JavaScript</a:t>
            </a:r>
          </a:p>
          <a:p>
            <a:pPr>
              <a:lnSpc>
                <a:spcPct val="150000"/>
              </a:lnSpc>
            </a:pPr>
            <a:r>
              <a:rPr lang="en-IN" sz="1800" b="1">
                <a:solidFill>
                  <a:schemeClr val="tx1"/>
                </a:solidFill>
              </a:rPr>
              <a:t>Key Features:</a:t>
            </a:r>
            <a:br>
              <a:rPr lang="en-IN" sz="1800">
                <a:solidFill>
                  <a:schemeClr val="tx1"/>
                </a:solidFill>
              </a:rPr>
            </a:br>
            <a:r>
              <a:rPr lang="en-IN" sz="1800">
                <a:solidFill>
                  <a:schemeClr val="tx1"/>
                </a:solidFill>
              </a:rPr>
              <a:t>Responsive UI (works on all devices)</a:t>
            </a:r>
            <a:br>
              <a:rPr lang="en-IN" sz="1800">
                <a:solidFill>
                  <a:schemeClr val="tx1"/>
                </a:solidFill>
              </a:rPr>
            </a:br>
            <a:r>
              <a:rPr lang="en-IN" sz="1800">
                <a:solidFill>
                  <a:schemeClr val="tx1"/>
                </a:solidFill>
              </a:rPr>
              <a:t>Food menu with order buttons</a:t>
            </a:r>
            <a:br>
              <a:rPr lang="en-IN" sz="1800">
                <a:solidFill>
                  <a:schemeClr val="tx1"/>
                </a:solidFill>
              </a:rPr>
            </a:br>
            <a:r>
              <a:rPr lang="en-IN" sz="1800">
                <a:solidFill>
                  <a:schemeClr val="tx1"/>
                </a:solidFill>
              </a:rPr>
              <a:t>Customer testimonials (carousel)</a:t>
            </a:r>
            <a:br>
              <a:rPr lang="en-IN" sz="1800">
                <a:solidFill>
                  <a:schemeClr val="tx1"/>
                </a:solidFill>
              </a:rPr>
            </a:br>
            <a:r>
              <a:rPr lang="en-IN" sz="1800">
                <a:solidFill>
                  <a:schemeClr val="tx1"/>
                </a:solidFill>
              </a:rPr>
              <a:t>Table booking system</a:t>
            </a:r>
            <a:br>
              <a:rPr lang="en-IN" sz="1800">
                <a:solidFill>
                  <a:schemeClr val="tx1"/>
                </a:solidFill>
              </a:rPr>
            </a:br>
            <a:r>
              <a:rPr lang="en-IN" sz="1800">
                <a:solidFill>
                  <a:schemeClr val="tx1"/>
                </a:solidFill>
              </a:rPr>
              <a:t>Scroll-to-top button &amp; animated counters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29397" y="870103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latin typeface="+mn-lt"/>
              </a:rPr>
              <a:t>P</a:t>
            </a:r>
            <a:r>
              <a:rPr lang="en-US" sz="4000">
                <a:solidFill>
                  <a:schemeClr val="tx1"/>
                </a:solidFill>
                <a:latin typeface="+mn-lt"/>
              </a:rPr>
              <a:t>roject Overview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6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CFF1D-DB0C-A6AF-DC8A-EC1AF9FE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6A53-D56E-1C73-AECB-3845FB25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75" y="1825624"/>
            <a:ext cx="10990053" cy="4727575"/>
          </a:xfr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1"/>
                </a:solidFill>
              </a:rPr>
              <a:t>Homepage:</a:t>
            </a:r>
            <a:r>
              <a:rPr lang="en-IN" sz="1800">
                <a:solidFill>
                  <a:schemeClr val="tx1"/>
                </a:solidFill>
              </a:rPr>
              <a:t> Displays restaurant details, banner, and menu using the </a:t>
            </a:r>
            <a:r>
              <a:rPr lang="en-IN" sz="1800" b="1">
                <a:solidFill>
                  <a:schemeClr val="tx1"/>
                </a:solidFill>
              </a:rPr>
              <a:t>Bootstrap Grid System</a:t>
            </a:r>
            <a:r>
              <a:rPr lang="en-IN" sz="1800">
                <a:solidFill>
                  <a:schemeClr val="tx1"/>
                </a:solidFill>
              </a:rPr>
              <a:t> for a responsive layout.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1"/>
                </a:solidFill>
              </a:rPr>
              <a:t>Navigation Bar:</a:t>
            </a:r>
            <a:r>
              <a:rPr lang="en-IN" sz="1800">
                <a:solidFill>
                  <a:schemeClr val="tx1"/>
                </a:solidFill>
              </a:rPr>
              <a:t> A </a:t>
            </a:r>
            <a:r>
              <a:rPr lang="en-IN" sz="1800" b="1">
                <a:solidFill>
                  <a:schemeClr val="tx1"/>
                </a:solidFill>
              </a:rPr>
              <a:t>Sticky Bootstrap Navbar</a:t>
            </a:r>
            <a:r>
              <a:rPr lang="en-IN" sz="1800">
                <a:solidFill>
                  <a:schemeClr val="tx1"/>
                </a:solidFill>
              </a:rPr>
              <a:t> ensures easy access while scrolling.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1"/>
                </a:solidFill>
              </a:rPr>
              <a:t>Explore Food Section:</a:t>
            </a:r>
            <a:r>
              <a:rPr lang="en-IN" sz="1800">
                <a:solidFill>
                  <a:schemeClr val="tx1"/>
                </a:solidFill>
              </a:rPr>
              <a:t> Showcases food items with order buttons, designed with </a:t>
            </a:r>
            <a:r>
              <a:rPr lang="en-IN" sz="1800" b="1">
                <a:solidFill>
                  <a:schemeClr val="tx1"/>
                </a:solidFill>
              </a:rPr>
              <a:t>Bootstrap Cards.</a:t>
            </a:r>
            <a:endParaRPr lang="en-IN" sz="18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1"/>
                </a:solidFill>
              </a:rPr>
              <a:t>Testimonials &amp; Team Section:</a:t>
            </a:r>
            <a:r>
              <a:rPr lang="en-IN" sz="1800">
                <a:solidFill>
                  <a:schemeClr val="tx1"/>
                </a:solidFill>
              </a:rPr>
              <a:t> Implements a </a:t>
            </a:r>
            <a:r>
              <a:rPr lang="en-IN" sz="1800" b="1">
                <a:solidFill>
                  <a:schemeClr val="tx1"/>
                </a:solidFill>
              </a:rPr>
              <a:t>Bootstrap Carousel</a:t>
            </a:r>
            <a:r>
              <a:rPr lang="en-IN" sz="1800">
                <a:solidFill>
                  <a:schemeClr val="tx1"/>
                </a:solidFill>
              </a:rPr>
              <a:t> to display customer reviews in a sliding format.</a:t>
            </a:r>
          </a:p>
          <a:p>
            <a:pPr>
              <a:lnSpc>
                <a:spcPct val="150000"/>
              </a:lnSpc>
            </a:pPr>
            <a:r>
              <a:rPr lang="en-IN" sz="1800" b="1">
                <a:solidFill>
                  <a:schemeClr val="tx1"/>
                </a:solidFill>
              </a:rPr>
              <a:t>JavaScript Functionalities: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1"/>
                </a:solidFill>
              </a:rPr>
              <a:t>Auto-Updating Counter:</a:t>
            </a:r>
            <a:r>
              <a:rPr lang="en-IN" sz="1800">
                <a:solidFill>
                  <a:schemeClr val="tx1"/>
                </a:solidFill>
              </a:rPr>
              <a:t> A </a:t>
            </a:r>
            <a:r>
              <a:rPr lang="en-IN" sz="1800" b="1">
                <a:solidFill>
                  <a:schemeClr val="tx1"/>
                </a:solidFill>
              </a:rPr>
              <a:t>JavaScript Counter</a:t>
            </a:r>
            <a:r>
              <a:rPr lang="en-IN" sz="1800">
                <a:solidFill>
                  <a:schemeClr val="tx1"/>
                </a:solidFill>
              </a:rPr>
              <a:t> dynamically updates live stats.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1"/>
                </a:solidFill>
              </a:rPr>
              <a:t>Scroll-to-Top Button:</a:t>
            </a:r>
            <a:r>
              <a:rPr lang="en-IN" sz="1800">
                <a:solidFill>
                  <a:schemeClr val="tx1"/>
                </a:solidFill>
              </a:rPr>
              <a:t> A </a:t>
            </a:r>
            <a:r>
              <a:rPr lang="en-IN" sz="1800" b="1">
                <a:solidFill>
                  <a:schemeClr val="tx1"/>
                </a:solidFill>
              </a:rPr>
              <a:t>JavaScript Smooth Scrolling Function</a:t>
            </a:r>
            <a:r>
              <a:rPr lang="en-IN" sz="1800">
                <a:solidFill>
                  <a:schemeClr val="tx1"/>
                </a:solidFill>
              </a:rPr>
              <a:t> enables easy navigation.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>
                <a:solidFill>
                  <a:schemeClr val="tx1"/>
                </a:solidFill>
              </a:rPr>
              <a:t>Responsive Navbar Behavior:</a:t>
            </a:r>
            <a:r>
              <a:rPr lang="en-IN" sz="1800">
                <a:solidFill>
                  <a:schemeClr val="tx1"/>
                </a:solidFill>
              </a:rPr>
              <a:t> A </a:t>
            </a:r>
            <a:r>
              <a:rPr lang="en-IN" sz="1800" b="1">
                <a:solidFill>
                  <a:schemeClr val="tx1"/>
                </a:solidFill>
              </a:rPr>
              <a:t>JavaScript and Bootstrap Toggle Navbar</a:t>
            </a:r>
            <a:r>
              <a:rPr lang="en-IN" sz="1800">
                <a:solidFill>
                  <a:schemeClr val="tx1"/>
                </a:solidFill>
              </a:rPr>
              <a:t> ensures mobile-friendly access.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CD078F-1D15-9F73-7F88-224D759FD834}"/>
              </a:ext>
            </a:extLst>
          </p:cNvPr>
          <p:cNvSpPr txBox="1">
            <a:spLocks/>
          </p:cNvSpPr>
          <p:nvPr/>
        </p:nvSpPr>
        <p:spPr>
          <a:xfrm>
            <a:off x="629397" y="870103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latin typeface="+mn-lt"/>
              </a:rPr>
              <a:t>Project Functionalities </a:t>
            </a:r>
            <a:endParaRPr lang="en-US" sz="400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E7D9F-2E60-E6A3-229A-376070D9D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E44535-96A5-61B9-76A0-D2A36DA059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1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BD8C6-F7C0-053B-464A-5B848641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1799B-8183-5BDC-90CF-28B33A4F5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75" y="1825624"/>
            <a:ext cx="10990053" cy="4727575"/>
          </a:xfr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Backend Integration:</a:t>
            </a:r>
            <a:r>
              <a:rPr lang="en-US" sz="1800">
                <a:solidFill>
                  <a:schemeClr val="tx1"/>
                </a:solidFill>
              </a:rPr>
              <a:t> Includes </a:t>
            </a:r>
            <a:r>
              <a:rPr lang="en-US" sz="1800" b="1">
                <a:solidFill>
                  <a:schemeClr val="tx1"/>
                </a:solidFill>
              </a:rPr>
              <a:t>user authentication</a:t>
            </a:r>
            <a:r>
              <a:rPr lang="en-US" sz="1800">
                <a:solidFill>
                  <a:schemeClr val="tx1"/>
                </a:solidFill>
              </a:rPr>
              <a:t> and </a:t>
            </a:r>
            <a:r>
              <a:rPr lang="en-US" sz="1800" b="1">
                <a:solidFill>
                  <a:schemeClr val="tx1"/>
                </a:solidFill>
              </a:rPr>
              <a:t>order history management</a:t>
            </a:r>
            <a:r>
              <a:rPr lang="en-US" sz="1800">
                <a:solidFill>
                  <a:schemeClr val="tx1"/>
                </a:solidFill>
              </a:rPr>
              <a:t> for a seamless experience.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Online Payment System:</a:t>
            </a:r>
            <a:r>
              <a:rPr lang="en-US" sz="1800">
                <a:solidFill>
                  <a:schemeClr val="tx1"/>
                </a:solidFill>
              </a:rPr>
              <a:t> Supports multiple payment gateways like </a:t>
            </a:r>
            <a:r>
              <a:rPr lang="en-US" sz="1800" b="1">
                <a:solidFill>
                  <a:schemeClr val="tx1"/>
                </a:solidFill>
              </a:rPr>
              <a:t>Stripe, Razorpay, and PayPal</a:t>
            </a:r>
            <a:r>
              <a:rPr lang="en-US" sz="1800">
                <a:solidFill>
                  <a:schemeClr val="tx1"/>
                </a:solidFill>
              </a:rPr>
              <a:t> for secure transactions.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Live Order Tracking:</a:t>
            </a:r>
            <a:r>
              <a:rPr lang="en-US" sz="1800">
                <a:solidFill>
                  <a:schemeClr val="tx1"/>
                </a:solidFill>
              </a:rPr>
              <a:t> Allows customers to track their orders in real-time using an </a:t>
            </a:r>
            <a:r>
              <a:rPr lang="en-US" sz="1800" b="1">
                <a:solidFill>
                  <a:schemeClr val="tx1"/>
                </a:solidFill>
              </a:rPr>
              <a:t>interactive tracking system</a:t>
            </a:r>
            <a:r>
              <a:rPr lang="en-US" sz="180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Admin Dashboard:</a:t>
            </a:r>
            <a:r>
              <a:rPr lang="en-US" sz="1800">
                <a:solidFill>
                  <a:schemeClr val="tx1"/>
                </a:solidFill>
              </a:rPr>
              <a:t> A dedicated </a:t>
            </a:r>
            <a:r>
              <a:rPr lang="en-US" sz="1800" b="1">
                <a:solidFill>
                  <a:schemeClr val="tx1"/>
                </a:solidFill>
              </a:rPr>
              <a:t>dashboard for restaurant management</a:t>
            </a:r>
            <a:r>
              <a:rPr lang="en-US" sz="1800">
                <a:solidFill>
                  <a:schemeClr val="tx1"/>
                </a:solidFill>
              </a:rPr>
              <a:t>, including order handling and menu updates.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Mobile App Development:</a:t>
            </a:r>
            <a:r>
              <a:rPr lang="en-US" sz="1800">
                <a:solidFill>
                  <a:schemeClr val="tx1"/>
                </a:solidFill>
              </a:rPr>
              <a:t> Future expansion includes a </a:t>
            </a:r>
            <a:r>
              <a:rPr lang="en-US" sz="1800" b="1">
                <a:solidFill>
                  <a:schemeClr val="tx1"/>
                </a:solidFill>
              </a:rPr>
              <a:t>mobile-friendly application</a:t>
            </a:r>
            <a:r>
              <a:rPr lang="en-US" sz="1800">
                <a:solidFill>
                  <a:schemeClr val="tx1"/>
                </a:solidFill>
              </a:rPr>
              <a:t> for better accessibility and user convenience.</a:t>
            </a:r>
          </a:p>
          <a:p>
            <a:pPr marL="0" indent="0">
              <a:lnSpc>
                <a:spcPct val="150000"/>
              </a:lnSpc>
              <a:buNone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2D96DB-D858-957A-5A45-D0A432CBEF67}"/>
              </a:ext>
            </a:extLst>
          </p:cNvPr>
          <p:cNvSpPr txBox="1">
            <a:spLocks/>
          </p:cNvSpPr>
          <p:nvPr/>
        </p:nvSpPr>
        <p:spPr>
          <a:xfrm>
            <a:off x="629397" y="870103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chemeClr val="tx1"/>
                </a:solidFill>
                <a:latin typeface="+mn-lt"/>
              </a:rPr>
              <a:t>Future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FCC8A-9678-505F-C894-E2C2D814C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573203-D9B9-2E33-D8FD-0C1A8BC916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51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64233" y="3328632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ea typeface="+mj-ea"/>
                <a:cs typeface="+mj-cs"/>
              </a:rPr>
              <a:t>THANK YOU….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63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1404</TotalTime>
  <Words>288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Bodoni MT</vt:lpstr>
      <vt:lpstr>Calibri</vt:lpstr>
      <vt:lpstr>Calibri Light</vt:lpstr>
      <vt:lpstr>Office Theme</vt:lpstr>
      <vt:lpstr>Feastify Restaurant Website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Definition</dc:title>
  <dc:creator>LJIET</dc:creator>
  <cp:lastModifiedBy>Jay Mistry</cp:lastModifiedBy>
  <cp:revision>142</cp:revision>
  <dcterms:created xsi:type="dcterms:W3CDTF">2022-02-18T03:37:33Z</dcterms:created>
  <dcterms:modified xsi:type="dcterms:W3CDTF">2025-02-21T16:29:08Z</dcterms:modified>
</cp:coreProperties>
</file>